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66" r:id="rId3"/>
    <p:sldId id="259" r:id="rId4"/>
    <p:sldId id="260" r:id="rId5"/>
    <p:sldId id="261" r:id="rId6"/>
    <p:sldId id="271" r:id="rId7"/>
    <p:sldId id="268" r:id="rId8"/>
    <p:sldId id="269" r:id="rId9"/>
    <p:sldId id="272" r:id="rId10"/>
    <p:sldId id="26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98" d="100"/>
          <a:sy n="98" d="100"/>
        </p:scale>
        <p:origin x="342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Top 10 Performing Companies by Total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'data-1777587861622'!$B$1</c:f>
              <c:strCache>
                <c:ptCount val="1"/>
                <c:pt idx="0">
                  <c:v>Total 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'data-1777587861622'!$A$2:$A$11</c:f>
              <c:strCache>
                <c:ptCount val="10"/>
                <c:pt idx="0">
                  <c:v>Phillips Beverage Company</c:v>
                </c:pt>
                <c:pt idx="1">
                  <c:v>Sazerac North America</c:v>
                </c:pt>
                <c:pt idx="2">
                  <c:v>Bacardi U.S.A. Inc.</c:v>
                </c:pt>
                <c:pt idx="3">
                  <c:v>Sazerac Co. Inc.</c:v>
                </c:pt>
                <c:pt idx="4">
                  <c:v>Constellation Wine Company Inc.</c:v>
                </c:pt>
                <c:pt idx="5">
                  <c:v>Luxco-St Louis</c:v>
                </c:pt>
                <c:pt idx="6">
                  <c:v>Brown-Forman Corporation</c:v>
                </c:pt>
                <c:pt idx="7">
                  <c:v>Pernod Ricard USA/Austin Nichols</c:v>
                </c:pt>
                <c:pt idx="8">
                  <c:v>Jim Beam Brands</c:v>
                </c:pt>
                <c:pt idx="9">
                  <c:v>Diageo Americas</c:v>
                </c:pt>
              </c:strCache>
            </c:strRef>
          </c:cat>
          <c:val>
            <c:numRef>
              <c:f>'data-1777587861622'!$B$2:$B$11</c:f>
              <c:numCache>
                <c:formatCode>"$"#,##0.00_);[Red]\("$"#,##0.00\)</c:formatCode>
                <c:ptCount val="10"/>
                <c:pt idx="0">
                  <c:v>12430033.140000001</c:v>
                </c:pt>
                <c:pt idx="1">
                  <c:v>14501094.58</c:v>
                </c:pt>
                <c:pt idx="2">
                  <c:v>18832855.469999999</c:v>
                </c:pt>
                <c:pt idx="3">
                  <c:v>19760750.800000001</c:v>
                </c:pt>
                <c:pt idx="4">
                  <c:v>23052884.379999999</c:v>
                </c:pt>
                <c:pt idx="5">
                  <c:v>24116582.09</c:v>
                </c:pt>
                <c:pt idx="6">
                  <c:v>25449644.59</c:v>
                </c:pt>
                <c:pt idx="7">
                  <c:v>28157424.530000001</c:v>
                </c:pt>
                <c:pt idx="8">
                  <c:v>31493762.829999998</c:v>
                </c:pt>
                <c:pt idx="9">
                  <c:v>84264824.469999999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80-4AFB-A8D4-54C2CC9F2F5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742487296"/>
        <c:axId val="1742488256"/>
      </c:barChart>
      <c:catAx>
        <c:axId val="1742487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488256"/>
        <c:crosses val="autoZero"/>
        <c:auto val="1"/>
        <c:lblAlgn val="ctr"/>
        <c:lblOffset val="100"/>
        <c:noMultiLvlLbl val="0"/>
      </c:catAx>
      <c:valAx>
        <c:axId val="1742488256"/>
        <c:scaling>
          <c:orientation val="minMax"/>
        </c:scaling>
        <c:delete val="0"/>
        <c:axPos val="b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487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Diageo Americas' Top 10</a:t>
            </a:r>
            <a:r>
              <a:rPr lang="en-US" baseline="0"/>
              <a:t> Performing</a:t>
            </a:r>
            <a:r>
              <a:rPr lang="en-US"/>
              <a:t> Drinks by Total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'data-1777588263611'!$B$1</c:f>
              <c:strCache>
                <c:ptCount val="1"/>
                <c:pt idx="0">
                  <c:v>Total 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'data-1777588263611'!$A$2:$A$11</c:f>
              <c:strCache>
                <c:ptCount val="10"/>
                <c:pt idx="0">
                  <c:v>Captain Morgan Spiced Rum</c:v>
                </c:pt>
                <c:pt idx="1">
                  <c:v>Crown Royal Canadian Whisky</c:v>
                </c:pt>
                <c:pt idx="2">
                  <c:v>Smirnoff Vodka 80 Prf</c:v>
                </c:pt>
                <c:pt idx="3">
                  <c:v>Seagrams 7 Crown Bl Whiskey</c:v>
                </c:pt>
                <c:pt idx="4">
                  <c:v>Crown Royal</c:v>
                </c:pt>
                <c:pt idx="5">
                  <c:v>Captain Morgan Spiced Barrel</c:v>
                </c:pt>
                <c:pt idx="6">
                  <c:v>Captain Morgan Original Spiced</c:v>
                </c:pt>
                <c:pt idx="7">
                  <c:v>Bailey's Original Irish Cream</c:v>
                </c:pt>
                <c:pt idx="8">
                  <c:v>Tanqueray Gin</c:v>
                </c:pt>
                <c:pt idx="9">
                  <c:v>Ketel One Imported Vodka</c:v>
                </c:pt>
              </c:strCache>
            </c:strRef>
          </c:cat>
          <c:val>
            <c:numRef>
              <c:f>'data-1777588263611'!$B$2:$B$11</c:f>
              <c:numCache>
                <c:formatCode>"$"#,##0.00_);[Red]\("$"#,##0.00\)</c:formatCode>
                <c:ptCount val="10"/>
                <c:pt idx="0">
                  <c:v>13772752.25</c:v>
                </c:pt>
                <c:pt idx="1">
                  <c:v>9714022.7799999993</c:v>
                </c:pt>
                <c:pt idx="2">
                  <c:v>4876655.59</c:v>
                </c:pt>
                <c:pt idx="3">
                  <c:v>4330957.37</c:v>
                </c:pt>
                <c:pt idx="4">
                  <c:v>4124703.73</c:v>
                </c:pt>
                <c:pt idx="5">
                  <c:v>3774545.06</c:v>
                </c:pt>
                <c:pt idx="6">
                  <c:v>3497803.08</c:v>
                </c:pt>
                <c:pt idx="7">
                  <c:v>2893112</c:v>
                </c:pt>
                <c:pt idx="8">
                  <c:v>2642900.9500000002</c:v>
                </c:pt>
                <c:pt idx="9">
                  <c:v>2334630.0499999998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55-476B-A531-68C330FC9F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31046368"/>
        <c:axId val="331045888"/>
      </c:barChart>
      <c:catAx>
        <c:axId val="33104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1045888"/>
        <c:crosses val="autoZero"/>
        <c:auto val="1"/>
        <c:lblAlgn val="ctr"/>
        <c:lblOffset val="100"/>
        <c:noMultiLvlLbl val="0"/>
      </c:catAx>
      <c:valAx>
        <c:axId val="331045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104636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Competing Vendors Average Bottle Price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'data-1777589421377'!$B$1</c:f>
              <c:strCache>
                <c:ptCount val="1"/>
                <c:pt idx="0">
                  <c:v>Average Bottle Price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'data-1777589421377'!$A$2:$A$3</c:f>
              <c:strCache>
                <c:ptCount val="2"/>
                <c:pt idx="0">
                  <c:v>Diageo Americas</c:v>
                </c:pt>
                <c:pt idx="1">
                  <c:v>Jim Beam Brands</c:v>
                </c:pt>
              </c:strCache>
            </c:strRef>
          </c:cat>
          <c:val>
            <c:numRef>
              <c:f>'data-1777589421377'!$B$2:$B$3</c:f>
              <c:numCache>
                <c:formatCode>"$"#,##0.00</c:formatCode>
                <c:ptCount val="2"/>
                <c:pt idx="0">
                  <c:v>18</c:v>
                </c:pt>
                <c:pt idx="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89-4573-B859-EE43DEE657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797072864"/>
        <c:axId val="1797072384"/>
      </c:barChart>
      <c:catAx>
        <c:axId val="179707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072384"/>
        <c:crosses val="autoZero"/>
        <c:auto val="1"/>
        <c:lblAlgn val="ctr"/>
        <c:lblOffset val="100"/>
        <c:noMultiLvlLbl val="0"/>
      </c:catAx>
      <c:valAx>
        <c:axId val="1797072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072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Competing Vendors Average Whiskey Bottle Price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'data-1777599029444'!$B$1</c:f>
              <c:strCache>
                <c:ptCount val="1"/>
                <c:pt idx="0">
                  <c:v>Average Whiskey Price Per Bottle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'data-1777599029444'!$A$2:$A$3</c:f>
              <c:strCache>
                <c:ptCount val="2"/>
                <c:pt idx="0">
                  <c:v>Diageo Americas</c:v>
                </c:pt>
                <c:pt idx="1">
                  <c:v>Jim Beam Brands</c:v>
                </c:pt>
              </c:strCache>
            </c:strRef>
          </c:cat>
          <c:val>
            <c:numRef>
              <c:f>'data-1777599029444'!$B$2:$B$3</c:f>
              <c:numCache>
                <c:formatCode>"$"#,##0.00_);[Red]\("$"#,##0.00\)</c:formatCode>
                <c:ptCount val="2"/>
                <c:pt idx="0">
                  <c:v>14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5E-4ED6-A87C-EACDB5C9F6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07644415"/>
        <c:axId val="1007649695"/>
      </c:barChart>
      <c:catAx>
        <c:axId val="1007644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7649695"/>
        <c:crosses val="autoZero"/>
        <c:auto val="1"/>
        <c:lblAlgn val="ctr"/>
        <c:lblOffset val="100"/>
        <c:noMultiLvlLbl val="0"/>
      </c:catAx>
      <c:valAx>
        <c:axId val="1007649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7644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Diageo</a:t>
            </a:r>
            <a:r>
              <a:rPr lang="en-US" baseline="0"/>
              <a:t> Americas' Whiskey Inventory by Bottle Count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'data-1777595157071'!$B$1</c:f>
              <c:strCache>
                <c:ptCount val="1"/>
                <c:pt idx="0">
                  <c:v>Bottle Count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'data-1777595157071'!$A$2:$A$10</c:f>
              <c:strCache>
                <c:ptCount val="9"/>
                <c:pt idx="0">
                  <c:v>Seagrams VO Canadian Whiskey Mini</c:v>
                </c:pt>
                <c:pt idx="1">
                  <c:v>Jeremiah Weed Spiced Whiskey</c:v>
                </c:pt>
                <c:pt idx="2">
                  <c:v>Bushmills Black Bush Irish Whiskey</c:v>
                </c:pt>
                <c:pt idx="3">
                  <c:v>Crown Royal Xr Canadian Whiskey</c:v>
                </c:pt>
                <c:pt idx="4">
                  <c:v>Jeremiah Weed Sarsaparilla Whiskey</c:v>
                </c:pt>
                <c:pt idx="5">
                  <c:v>Jeremiah Weed Cinnamon Whiskey</c:v>
                </c:pt>
                <c:pt idx="6">
                  <c:v>Seagrams 7 Crown Bl Whiskey Mini</c:v>
                </c:pt>
                <c:pt idx="7">
                  <c:v>Bushmills Irish Whiskey</c:v>
                </c:pt>
                <c:pt idx="8">
                  <c:v>Seagrams 7 Crown Bl Whiskey</c:v>
                </c:pt>
              </c:strCache>
            </c:strRef>
          </c:cat>
          <c:val>
            <c:numRef>
              <c:f>'data-1777595157071'!$B$2:$B$10</c:f>
              <c:numCache>
                <c:formatCode>General</c:formatCode>
                <c:ptCount val="9"/>
                <c:pt idx="0">
                  <c:v>36</c:v>
                </c:pt>
                <c:pt idx="1">
                  <c:v>701</c:v>
                </c:pt>
                <c:pt idx="2">
                  <c:v>706</c:v>
                </c:pt>
                <c:pt idx="3">
                  <c:v>1067</c:v>
                </c:pt>
                <c:pt idx="4">
                  <c:v>1109</c:v>
                </c:pt>
                <c:pt idx="5">
                  <c:v>1164</c:v>
                </c:pt>
                <c:pt idx="6">
                  <c:v>4295</c:v>
                </c:pt>
                <c:pt idx="7">
                  <c:v>7906</c:v>
                </c:pt>
                <c:pt idx="8">
                  <c:v>354095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D7-4518-97CC-8D44F50A3F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24622736"/>
        <c:axId val="124615056"/>
      </c:barChart>
      <c:valAx>
        <c:axId val="124615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22736"/>
        <c:crosses val="autoZero"/>
        <c:crossBetween val="between"/>
      </c:valAx>
      <c:catAx>
        <c:axId val="1246227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15056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Jim Beam Brand's Whiskey Inventory by Bottle 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'data-1777596731187'!$B$1</c:f>
              <c:strCache>
                <c:ptCount val="1"/>
                <c:pt idx="0">
                  <c:v>Total Bottle Quantity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'data-1777596731187'!$A$2:$A$7</c:f>
              <c:strCache>
                <c:ptCount val="6"/>
                <c:pt idx="0">
                  <c:v>Old Overholt Str Rye Whiskey</c:v>
                </c:pt>
                <c:pt idx="1">
                  <c:v>Kessler Blend Whiskey Mini</c:v>
                </c:pt>
                <c:pt idx="2">
                  <c:v>Kessler Blend Whiskey Traveler</c:v>
                </c:pt>
                <c:pt idx="3">
                  <c:v>Sunny Brook Blend Whiskey</c:v>
                </c:pt>
                <c:pt idx="4">
                  <c:v>Beam's 8 Star Bl Whiskey</c:v>
                </c:pt>
                <c:pt idx="5">
                  <c:v>Kessler Blend Whiskey</c:v>
                </c:pt>
              </c:strCache>
            </c:strRef>
          </c:cat>
          <c:val>
            <c:numRef>
              <c:f>'data-1777596731187'!$B$2:$B$7</c:f>
              <c:numCache>
                <c:formatCode>General</c:formatCode>
                <c:ptCount val="6"/>
                <c:pt idx="0">
                  <c:v>1164</c:v>
                </c:pt>
                <c:pt idx="1">
                  <c:v>2984</c:v>
                </c:pt>
                <c:pt idx="2">
                  <c:v>10446</c:v>
                </c:pt>
                <c:pt idx="3">
                  <c:v>25893</c:v>
                </c:pt>
                <c:pt idx="4">
                  <c:v>149082</c:v>
                </c:pt>
                <c:pt idx="5">
                  <c:v>173918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BC-4918-9CC2-3AC4F2DD7B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53810928"/>
        <c:axId val="153809968"/>
      </c:barChart>
      <c:catAx>
        <c:axId val="153810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809968"/>
        <c:crosses val="autoZero"/>
        <c:auto val="1"/>
        <c:lblAlgn val="ctr"/>
        <c:lblOffset val="100"/>
        <c:noMultiLvlLbl val="0"/>
      </c:catAx>
      <c:valAx>
        <c:axId val="153809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81092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Diageo Americas Top 5 Performing Whiskies by Price Per Bottle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'data-1777591610251'!$C$1</c:f>
              <c:strCache>
                <c:ptCount val="1"/>
                <c:pt idx="0">
                  <c:v>Bottle Count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'data-1777591610251'!$B$2:$B$6</c:f>
              <c:strCache>
                <c:ptCount val="5"/>
                <c:pt idx="0">
                  <c:v>Windsor Canadian Pet</c:v>
                </c:pt>
                <c:pt idx="1">
                  <c:v>Maker's Mark</c:v>
                </c:pt>
                <c:pt idx="2">
                  <c:v>Canadian Club Whisky</c:v>
                </c:pt>
                <c:pt idx="3">
                  <c:v>Kessler Blend Whiskey</c:v>
                </c:pt>
                <c:pt idx="4">
                  <c:v>Jim Beam</c:v>
                </c:pt>
              </c:strCache>
              <c:extLst/>
            </c:strRef>
          </c:cat>
          <c:val>
            <c:numRef>
              <c:f>'data-1777591610251'!$C$2:$C$6</c:f>
              <c:numCache>
                <c:formatCode>General</c:formatCode>
                <c:ptCount val="5"/>
                <c:pt idx="0">
                  <c:v>95898</c:v>
                </c:pt>
                <c:pt idx="1">
                  <c:v>101720</c:v>
                </c:pt>
                <c:pt idx="2">
                  <c:v>115273</c:v>
                </c:pt>
                <c:pt idx="3">
                  <c:v>173918</c:v>
                </c:pt>
                <c:pt idx="4">
                  <c:v>315186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92-4FD5-83E5-30D8FC39DEB9}"/>
            </c:ext>
          </c:extLst>
        </c:ser>
        <c:ser>
          <c:idx val="1"/>
          <c:order val="1"/>
          <c:tx>
            <c:strRef>
              <c:f>'data-1777591610251'!$D$1</c:f>
              <c:strCache>
                <c:ptCount val="1"/>
                <c:pt idx="0">
                  <c:v>Average Price Per Bottle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'data-1777591610251'!$B$2:$B$6</c:f>
              <c:strCache>
                <c:ptCount val="5"/>
                <c:pt idx="0">
                  <c:v>Windsor Canadian Pet</c:v>
                </c:pt>
                <c:pt idx="1">
                  <c:v>Maker's Mark</c:v>
                </c:pt>
                <c:pt idx="2">
                  <c:v>Canadian Club Whisky</c:v>
                </c:pt>
                <c:pt idx="3">
                  <c:v>Kessler Blend Whiskey</c:v>
                </c:pt>
                <c:pt idx="4">
                  <c:v>Jim Beam</c:v>
                </c:pt>
              </c:strCache>
              <c:extLst/>
            </c:strRef>
          </c:cat>
          <c:val>
            <c:numRef>
              <c:f>'data-1777591610251'!$D$2:$D$6</c:f>
              <c:numCache>
                <c:formatCode>"$"#,##0.00</c:formatCode>
                <c:ptCount val="5"/>
                <c:pt idx="0">
                  <c:v>13</c:v>
                </c:pt>
                <c:pt idx="1">
                  <c:v>28</c:v>
                </c:pt>
                <c:pt idx="2">
                  <c:v>16</c:v>
                </c:pt>
                <c:pt idx="3">
                  <c:v>11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92-4FD5-83E5-30D8FC39DEB9}"/>
            </c:ext>
          </c:extLst>
        </c:ser>
        <c:ser>
          <c:idx val="2"/>
          <c:order val="2"/>
          <c:tx>
            <c:strRef>
              <c:f>'data-1777591610251'!$E$1</c:f>
              <c:strCache>
                <c:ptCount val="1"/>
                <c:pt idx="0">
                  <c:v>Total Revenue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'data-1777591610251'!$B$2:$B$6</c:f>
              <c:strCache>
                <c:ptCount val="5"/>
                <c:pt idx="0">
                  <c:v>Windsor Canadian Pet</c:v>
                </c:pt>
                <c:pt idx="1">
                  <c:v>Maker's Mark</c:v>
                </c:pt>
                <c:pt idx="2">
                  <c:v>Canadian Club Whisky</c:v>
                </c:pt>
                <c:pt idx="3">
                  <c:v>Kessler Blend Whiskey</c:v>
                </c:pt>
                <c:pt idx="4">
                  <c:v>Jim Beam</c:v>
                </c:pt>
              </c:strCache>
              <c:extLst/>
            </c:strRef>
          </c:cat>
          <c:val>
            <c:numRef>
              <c:f>'data-1777591610251'!$E$2:$E$6</c:f>
              <c:numCache>
                <c:formatCode>"$"#,##0.00_);[Red]\("$"#,##0.00\)</c:formatCode>
                <c:ptCount val="5"/>
                <c:pt idx="0">
                  <c:v>1287731.28</c:v>
                </c:pt>
                <c:pt idx="1">
                  <c:v>2963128.62</c:v>
                </c:pt>
                <c:pt idx="2">
                  <c:v>1886339.33</c:v>
                </c:pt>
                <c:pt idx="3">
                  <c:v>1887017.24</c:v>
                </c:pt>
                <c:pt idx="4">
                  <c:v>5163920.1900000004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92-4FD5-83E5-30D8FC39DE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98806384"/>
        <c:axId val="1798801104"/>
      </c:barChart>
      <c:catAx>
        <c:axId val="179880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801104"/>
        <c:crosses val="autoZero"/>
        <c:auto val="1"/>
        <c:lblAlgn val="ctr"/>
        <c:lblOffset val="100"/>
        <c:noMultiLvlLbl val="0"/>
      </c:catAx>
      <c:valAx>
        <c:axId val="1798801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80638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Jim</a:t>
            </a:r>
            <a:r>
              <a:rPr lang="en-US" baseline="0" dirty="0"/>
              <a:t> Beam Brand's Top 5 Performing Whiskies by Price Per Bottle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'data-1777591610251'!$C$1</c:f>
              <c:strCache>
                <c:ptCount val="1"/>
                <c:pt idx="0">
                  <c:v>Bottle Count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'data-1777591610251'!$B$2:$B$6</c:f>
              <c:strCache>
                <c:ptCount val="5"/>
                <c:pt idx="0">
                  <c:v>Jim Beam</c:v>
                </c:pt>
                <c:pt idx="1">
                  <c:v>Maker's Mark</c:v>
                </c:pt>
                <c:pt idx="2">
                  <c:v>Kessler Blend Whiskey</c:v>
                </c:pt>
                <c:pt idx="3">
                  <c:v>Canadian Club Whisky</c:v>
                </c:pt>
                <c:pt idx="4">
                  <c:v>Windsor Canadian Pet</c:v>
                </c:pt>
              </c:strCache>
              <c:extLst/>
            </c:strRef>
          </c:cat>
          <c:val>
            <c:numRef>
              <c:f>'data-1777591610251'!$C$2:$C$6</c:f>
              <c:numCache>
                <c:formatCode>General</c:formatCode>
                <c:ptCount val="5"/>
                <c:pt idx="0">
                  <c:v>315186</c:v>
                </c:pt>
                <c:pt idx="1">
                  <c:v>101720</c:v>
                </c:pt>
                <c:pt idx="2">
                  <c:v>173918</c:v>
                </c:pt>
                <c:pt idx="3">
                  <c:v>115273</c:v>
                </c:pt>
                <c:pt idx="4">
                  <c:v>95898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10-49E1-ADD0-091794105D96}"/>
            </c:ext>
          </c:extLst>
        </c:ser>
        <c:ser>
          <c:idx val="1"/>
          <c:order val="1"/>
          <c:tx>
            <c:strRef>
              <c:f>'data-1777591610251'!$D$1</c:f>
              <c:strCache>
                <c:ptCount val="1"/>
                <c:pt idx="0">
                  <c:v>Average Bottle Price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'data-1777591610251'!$B$2:$B$6</c:f>
              <c:strCache>
                <c:ptCount val="5"/>
                <c:pt idx="0">
                  <c:v>Jim Beam</c:v>
                </c:pt>
                <c:pt idx="1">
                  <c:v>Maker's Mark</c:v>
                </c:pt>
                <c:pt idx="2">
                  <c:v>Kessler Blend Whiskey</c:v>
                </c:pt>
                <c:pt idx="3">
                  <c:v>Canadian Club Whisky</c:v>
                </c:pt>
                <c:pt idx="4">
                  <c:v>Windsor Canadian Pet</c:v>
                </c:pt>
              </c:strCache>
              <c:extLst/>
            </c:strRef>
          </c:cat>
          <c:val>
            <c:numRef>
              <c:f>'data-1777591610251'!$D$2:$D$6</c:f>
              <c:numCache>
                <c:formatCode>"$"#,##0.00</c:formatCode>
                <c:ptCount val="5"/>
                <c:pt idx="0">
                  <c:v>16</c:v>
                </c:pt>
                <c:pt idx="1">
                  <c:v>28</c:v>
                </c:pt>
                <c:pt idx="2">
                  <c:v>11</c:v>
                </c:pt>
                <c:pt idx="3">
                  <c:v>16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10-49E1-ADD0-091794105D96}"/>
            </c:ext>
          </c:extLst>
        </c:ser>
        <c:ser>
          <c:idx val="2"/>
          <c:order val="2"/>
          <c:tx>
            <c:strRef>
              <c:f>'data-1777591610251'!$E$1</c:f>
              <c:strCache>
                <c:ptCount val="1"/>
                <c:pt idx="0">
                  <c:v>Total Revenue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'data-1777591610251'!$B$2:$B$6</c:f>
              <c:strCache>
                <c:ptCount val="5"/>
                <c:pt idx="0">
                  <c:v>Jim Beam</c:v>
                </c:pt>
                <c:pt idx="1">
                  <c:v>Maker's Mark</c:v>
                </c:pt>
                <c:pt idx="2">
                  <c:v>Kessler Blend Whiskey</c:v>
                </c:pt>
                <c:pt idx="3">
                  <c:v>Canadian Club Whisky</c:v>
                </c:pt>
                <c:pt idx="4">
                  <c:v>Windsor Canadian Pet</c:v>
                </c:pt>
              </c:strCache>
              <c:extLst/>
            </c:strRef>
          </c:cat>
          <c:val>
            <c:numRef>
              <c:f>'data-1777591610251'!$E$2:$E$6</c:f>
              <c:numCache>
                <c:formatCode>"$"#,##0.00_);[Red]\("$"#,##0.00\)</c:formatCode>
                <c:ptCount val="5"/>
                <c:pt idx="0">
                  <c:v>5163920.1900000004</c:v>
                </c:pt>
                <c:pt idx="1">
                  <c:v>2963128.62</c:v>
                </c:pt>
                <c:pt idx="2">
                  <c:v>1887017.24</c:v>
                </c:pt>
                <c:pt idx="3">
                  <c:v>1886339.33</c:v>
                </c:pt>
                <c:pt idx="4">
                  <c:v>1287731.28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10-49E1-ADD0-091794105D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24618896"/>
        <c:axId val="124613616"/>
      </c:barChart>
      <c:catAx>
        <c:axId val="12461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13616"/>
        <c:crosses val="autoZero"/>
        <c:auto val="1"/>
        <c:lblAlgn val="ctr"/>
        <c:lblOffset val="100"/>
        <c:noMultiLvlLbl val="0"/>
      </c:catAx>
      <c:valAx>
        <c:axId val="124613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1889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9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9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80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0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48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53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0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73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86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9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5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94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56" r:id="rId6"/>
    <p:sldLayoutId id="2147483761" r:id="rId7"/>
    <p:sldLayoutId id="2147483757" r:id="rId8"/>
    <p:sldLayoutId id="2147483758" r:id="rId9"/>
    <p:sldLayoutId id="2147483759" r:id="rId10"/>
    <p:sldLayoutId id="214748376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firepile/6080472731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firepile/6080472731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78765-C5CB-E895-CCEE-02C221AA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3620882" cy="364034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DIAGEO AMERICAS SWOT ANALYSIS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4686A3A-F45D-C125-F056-A056C68CD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28" r="25565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91C9ACF-4D40-741E-F86D-ABC52DD356FB}"/>
              </a:ext>
            </a:extLst>
          </p:cNvPr>
          <p:cNvSpPr txBox="1"/>
          <p:nvPr/>
        </p:nvSpPr>
        <p:spPr>
          <a:xfrm>
            <a:off x="12007269" y="6657945"/>
            <a:ext cx="18473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endParaRPr lang="en-US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203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555D1-C30D-01A3-DDE2-BFA4F6C76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7BBB0-C45E-DC21-40C3-6B86F5A2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3620882" cy="2632217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z="3200" dirty="0"/>
              <a:t>ANALYSIS FOCUS: total sales, BOTTLE PRICE, &amp; JIM BEAM WHISKEY ANALYSIS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Summary stats: IOWA liquor sales DATASET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DDE2278-B6B8-FED0-F64F-182939222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28" r="25565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CE05222-8365-A700-9443-0CBF66DC9647}"/>
              </a:ext>
            </a:extLst>
          </p:cNvPr>
          <p:cNvSpPr txBox="1"/>
          <p:nvPr/>
        </p:nvSpPr>
        <p:spPr>
          <a:xfrm>
            <a:off x="12007269" y="6657945"/>
            <a:ext cx="18473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endParaRPr lang="en-US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247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BC30665E-D592-446F-98EB-15F172A22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E6AC60-B3C1-3CF5-3396-31906BD0F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4702835"/>
            <a:ext cx="10801350" cy="9787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/>
              <a:t>IN THIS PRESENTATION, WE WILL OBSERVE STRENGTHS, WEAKNESSES, OPPORTUNITIES &amp; THREATS REVOLVING AROUND THE TOTAL SALES revenue of Diageo Americas. HERE IS DIAGEO AMERICAS’ TOTAL SALES REVENUE WHEN COMPARED WITH OUR “COMPETITORS”.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3984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2D6BED6-B1F6-5960-B3C6-B0BD2CB596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1916587"/>
              </p:ext>
            </p:extLst>
          </p:nvPr>
        </p:nvGraphicFramePr>
        <p:xfrm>
          <a:off x="800100" y="66677"/>
          <a:ext cx="10591800" cy="4429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57004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30665E-D592-446F-98EB-15F172A22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8C0AF2-A5ED-8DDE-5137-781C0DB7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4702835"/>
            <a:ext cx="10801350" cy="97877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3800" dirty="0"/>
              <a:t>DIAGEO AMERICA’S TOP 10 PERFORMING DRINKS BY THEIR TOTAL REVENUE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3984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8F428B4-B7FB-89CA-C4FE-1BB243878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6945907"/>
              </p:ext>
            </p:extLst>
          </p:nvPr>
        </p:nvGraphicFramePr>
        <p:xfrm>
          <a:off x="800100" y="0"/>
          <a:ext cx="10591799" cy="450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13251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C30665E-D592-446F-98EB-15F172A22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90264-D814-3885-B8B1-353143F7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5210175"/>
            <a:ext cx="10801350" cy="47143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3000" dirty="0"/>
              <a:t>AVERAGE BOTTLE PRICE: DIAGEO AMERICAS VS. JIM BEAM BRANDS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3984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D4B803B5-22C2-0050-5B7C-376A19FC48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613391"/>
              </p:ext>
            </p:extLst>
          </p:nvPr>
        </p:nvGraphicFramePr>
        <p:xfrm>
          <a:off x="800100" y="66678"/>
          <a:ext cx="10591800" cy="4428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82658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43FBF-4D30-916C-22EF-A7271F77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466212E-E728-2776-659B-0D099106D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0A7B94-E6DC-B36C-64B7-D02520929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DB3B354-D07B-D33F-A42B-EFFA3D02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FD8C64B2-CD8D-3D16-D73A-9ED180FD4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F1E1D3-C159-D91F-8DF9-FBDFB8533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4844377"/>
            <a:ext cx="10801350" cy="83723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3000" dirty="0"/>
              <a:t>AVERAGE BOTTLE PRICE (WHISKEY): DIAGEO AMERICAS VS. JIM BEAM BRANDS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FFB1F9C-3D57-6DA5-62E4-A0A8ADC30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3984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F8AF79E-1B9C-503D-5B63-186E1613E6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6518042"/>
              </p:ext>
            </p:extLst>
          </p:nvPr>
        </p:nvGraphicFramePr>
        <p:xfrm>
          <a:off x="800100" y="97278"/>
          <a:ext cx="10591799" cy="4397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7666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5B038-2B9B-96F8-2B54-2AAE81300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BE15326-85DA-E97E-2CFD-637134D4C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007E06-8E52-1EFA-E459-98830173D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A348C2B-3967-630D-F1FF-0FEAE37E3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8F95D59-42CA-4AE9-3B67-C1014CA21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EEEBD-A437-AEC1-F7A2-0BB30381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4702835"/>
            <a:ext cx="10801350" cy="60258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400" dirty="0"/>
              <a:t>DIAGEO AMERICAS WHISKEY INVENTORY OUTWEIGHS THE COMPETITORS with 366,748 bottles of whiskey in our inventory. Whiskey is our highest performer in total revenue.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F6E2A5A-37F6-BF57-001A-1E36D7D9C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3984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F6ECEBD-F0D4-55CD-3483-AEC21CAA05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0532438"/>
              </p:ext>
            </p:extLst>
          </p:nvPr>
        </p:nvGraphicFramePr>
        <p:xfrm>
          <a:off x="800100" y="77824"/>
          <a:ext cx="10591800" cy="4380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2292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D3453-4CEF-00FF-6EF3-2ED3B66E9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CA3D8F-C53C-E02E-EC08-950955966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337181-C872-F164-FB8F-FA1AFA987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3868413-26C5-E697-74E7-EE0CAD06D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B404574-BC6A-CBD5-481D-DA2831ECC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71A29-6A1F-11CA-F184-C7D4BA925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4702835"/>
            <a:ext cx="10801350" cy="60258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400" dirty="0"/>
              <a:t>JIM BEAM BRANDS STUGGLES TO CHALLENGE OUR WHISKEY INVENTORY IN QUANTITY, QUALITY, OR TOTAL SALES. 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7788C82-39B1-21EA-39ED-B1B5DA310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3984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9C60649-55ED-E5B6-4983-0E710E6AB8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7863353"/>
              </p:ext>
            </p:extLst>
          </p:nvPr>
        </p:nvGraphicFramePr>
        <p:xfrm>
          <a:off x="800100" y="214015"/>
          <a:ext cx="10591800" cy="4220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3145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EDFDC-08BA-065E-C71B-01C55D807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D72B70-47D0-0566-6D50-FC20868D8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E0AEA27-2939-7DF0-F543-1CA9D5DA4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D229DAC-00D2-1BB4-7BD8-49EEDCC46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413FBED-B9AC-A58B-16BE-13FF5E43B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55128D-F124-AEAA-A5A4-61B531237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4702835"/>
            <a:ext cx="10801350" cy="97877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400" dirty="0"/>
              <a:t>OUR INVENTORY COUNT FOR WHISKEY MAY BE FAVORABLE, BUT JIM BEAM ON AVERAGE PRICE PER BOTTLE, PROVIDES BETTER AFFORDABILITY IN WHISKEY.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770C0AC-75EA-CA6B-2C0A-E709F4368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3984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10C65DE-DAA9-105A-DC8D-7171AACA60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5976033"/>
              </p:ext>
            </p:extLst>
          </p:nvPr>
        </p:nvGraphicFramePr>
        <p:xfrm>
          <a:off x="800100" y="97277"/>
          <a:ext cx="10591800" cy="4211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16561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C30665E-D592-446F-98EB-15F172A22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E6C56-EE22-FD8A-E2F7-3A053F807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4702835"/>
            <a:ext cx="10801350" cy="97877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400" dirty="0"/>
              <a:t>JIM BEAM BRANDS’ TOP PERFORMERS ARE ALL AVERAGELY CHEAP. HIGHER VOLUME IN WHISKEY INVENTORY WITH GOOD AVERAGE PRICES PER BOTTLE MAY PROVE TO BE OUR ONLY “THREAT”.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3984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0637609-5A1F-D4C5-65C5-D26BF61DF3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7897862"/>
              </p:ext>
            </p:extLst>
          </p:nvPr>
        </p:nvGraphicFramePr>
        <p:xfrm>
          <a:off x="800101" y="66677"/>
          <a:ext cx="10591800" cy="4385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042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BC6E4-3414-384C-FFDF-A01F0C14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372223"/>
            <a:ext cx="4265763" cy="17447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 STAGGERING DISCOVERY of </a:t>
            </a:r>
            <a:r>
              <a:rPr lang="en-US"/>
              <a:t>kpi: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79FDD-AD9F-5F19-49B6-D80759153F44}"/>
              </a:ext>
            </a:extLst>
          </p:cNvPr>
          <p:cNvSpPr txBox="1"/>
          <p:nvPr/>
        </p:nvSpPr>
        <p:spPr>
          <a:xfrm>
            <a:off x="5967346" y="2414755"/>
            <a:ext cx="5269831" cy="2039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+mj-lt"/>
              </a:rPr>
              <a:t>IF DIAGEO AMERICAS’ SEAGRAM’S 7 CROWN BL WHISKEY SOLD AT AN AVERAGE OF $16.00 PER BOTTLE INSTEAD OF $12.00, WE WOULD SEE A TOTAL REVENUE OF ROUGHLY $5.6 MILLION. OUR CHEAPEST TOP-SELLING WHISKEY WOULD HAVE THEN OUTPERFORMED JIM BEAM’S #1 WHISKEY PRODUCT IN TOTAL REVENUE.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AB36D8-4A14-4AA5-7A2B-C8B871657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42534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16A1AB-EC4C-8EC6-E049-13EF7B36BB36}"/>
              </a:ext>
            </a:extLst>
          </p:cNvPr>
          <p:cNvSpPr txBox="1"/>
          <p:nvPr/>
        </p:nvSpPr>
        <p:spPr>
          <a:xfrm>
            <a:off x="8803531" y="5958115"/>
            <a:ext cx="3696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EL ROLLINS</a:t>
            </a:r>
          </a:p>
        </p:txBody>
      </p:sp>
    </p:spTree>
    <p:extLst>
      <p:ext uri="{BB962C8B-B14F-4D97-AF65-F5344CB8AC3E}">
        <p14:creationId xmlns:p14="http://schemas.microsoft.com/office/powerpoint/2010/main" val="394072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324</Words>
  <Application>Microsoft Office PowerPoint</Application>
  <PresentationFormat>Widescreen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Bierstadt</vt:lpstr>
      <vt:lpstr>Calisto MT</vt:lpstr>
      <vt:lpstr>Univers Condensed</vt:lpstr>
      <vt:lpstr>ChronicleVTI</vt:lpstr>
      <vt:lpstr>DIAGEO AMERICAS SWOT ANALYSIS</vt:lpstr>
      <vt:lpstr>ANALYSIS FOCUS: total sales, BOTTLE PRICE, &amp; JIM BEAM WHISKEY ANALYSIS  Summary stats: IOWA liquor sales DATASET</vt:lpstr>
      <vt:lpstr>IN THIS PRESENTATION, WE WILL OBSERVE STRENGTHS, WEAKNESSES, OPPORTUNITIES &amp; THREATS REVOLVING AROUND THE TOTAL SALES revenue of Diageo Americas. HERE IS DIAGEO AMERICAS’ TOTAL SALES REVENUE WHEN COMPARED WITH OUR “COMPETITORS”.</vt:lpstr>
      <vt:lpstr>DIAGEO AMERICA’S TOP 10 PERFORMING DRINKS BY THEIR TOTAL REVENUE</vt:lpstr>
      <vt:lpstr>AVERAGE BOTTLE PRICE: DIAGEO AMERICAS VS. JIM BEAM BRANDS</vt:lpstr>
      <vt:lpstr>AVERAGE BOTTLE PRICE (WHISKEY): DIAGEO AMERICAS VS. JIM BEAM BRANDS</vt:lpstr>
      <vt:lpstr>DIAGEO AMERICAS WHISKEY INVENTORY OUTWEIGHS THE COMPETITORS with 366,748 bottles of whiskey in our inventory. Whiskey is our highest performer in total revenue.</vt:lpstr>
      <vt:lpstr>JIM BEAM BRANDS STUGGLES TO CHALLENGE OUR WHISKEY INVENTORY IN QUANTITY, QUALITY, OR TOTAL SALES. </vt:lpstr>
      <vt:lpstr>OUR INVENTORY COUNT FOR WHISKEY MAY BE FAVORABLE, BUT JIM BEAM ON AVERAGE PRICE PER BOTTLE, PROVIDES BETTER AFFORDABILITY IN WHISKEY.</vt:lpstr>
      <vt:lpstr>JIM BEAM BRANDS’ TOP PERFORMERS ARE ALL AVERAGELY CHEAP. HIGHER VOLUME IN WHISKEY INVENTORY WITH GOOD AVERAGE PRICES PER BOTTLE MAY PROVE TO BE OUR ONLY “THREAT”.</vt:lpstr>
      <vt:lpstr>A STAGGERING DISCOVERY of kpi: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ariel rollins</dc:creator>
  <cp:lastModifiedBy>ariel rollins</cp:lastModifiedBy>
  <cp:revision>1</cp:revision>
  <dcterms:created xsi:type="dcterms:W3CDTF">2026-04-30T18:26:58Z</dcterms:created>
  <dcterms:modified xsi:type="dcterms:W3CDTF">2026-05-01T03:38:23Z</dcterms:modified>
</cp:coreProperties>
</file>